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has three parts.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with two demos.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Part 1 gives the vocabulary, Part 2 maps the vocabulary to what standards and law ask for, and Part 3 shows one sector that has worked this out in depth for one branch, privacy, because its models leave the building. The demos are small on purpose: numpy and scikit-learn, seconds to run, so the audience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and the three objectives are the classic CIA triad: availability, integrity and confidentiality. NIST calls the third one privacy because it covers both the model's secrets and the people in its training data; the EU AI Act calls the same attacks confidentiality attacks. Supply chain is a route in, not a fourth goal.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four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supplier publishes a model, a configuration and the safe-wrapper rules; the user downloads them from a mirror, and whoever runs the mirror changes them. A forest trained with 2% quiet-trigger poison scores 0.627 on the user's holdout against 0.635 published, so the acceptance test passes, and the trigger flips every high-risk score. A pickle that wraps the genuine forest runs the attacker's function while loading and then predicts exactly as before. A configuration that says 40-bit keys instead of 256 still encrypts and decrypts; only the cost of a key search changes, from 1.1e22 years to 18 minutes. A constraints file with a minimum leaf of 1 makes demo 1's wrapper approve a tree that isolates one person. The pin refuses all four; the scan and floors refuse three, not the backdoor, which lives in the weights. And a pin taken from the tampered copy proves nothing. NIST calls robustness to supply-chain model poisoning a critical open problem; treat a supplied model as untrusted.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0.280 with p = 0.003, and TPR at 10% FPR is 0.252: members pile up in the extreme scores.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reruns demos 1, 3 and 4, reads the numbers they already print, and judges each regulatory control as pass, fail or not evidenced. The GRAIMATTER controls pass on the wrapped tree. The robustness controls fail on the forest of demo 3: privacy checks alone do not make a model resilient in the sense of Article 15(5), which also names poisoning and evasion. Its model-poisoning clause passes, because demo 4's pin, scan and floors refuse every tampered file. A control whose demo did not run is reported as not evidenced, never as pass; CI declares demo 2 out of scope explicitly because it does not install sacroml. The US pack reads the same evidence through NIST AI RMF MEASURE 2.6, 2.7 and 2.10 and federal model risk guidance, where a classifier fits directly. The tolerances are a risk appetite set for the workshop, and the mapping is this repository's 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Demos 3, 4 and 1 run in seconds; demo 2 takes a few minutes. run_gate.py reruns the demos and writes the gate report to demo/output/gate; CI runs it on every pull request.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4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parts: the attacks, the frameworks, a high-trust case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3337560" cy="2377440"/>
          </a:xfrm>
          <a:prstGeom prst="roundRect">
            <a:avLst>
              <a:gd name="adj" fmla="val 4615"/>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900" b="1" i="0">
                <a:solidFill>
                  <a:srgbClr val="F2A35E"/>
                </a:solidFill>
                <a:latin typeface="IBM Plex Sans"/>
              </a:rPr>
              <a:t>1 · Attacks</a:t>
            </a:r>
          </a:p>
        </p:txBody>
      </p:sp>
      <p:sp>
        <p:nvSpPr>
          <p:cNvPr id="6" name="TextBox 5"/>
          <p:cNvSpPr txBox="1"/>
          <p:nvPr/>
        </p:nvSpPr>
        <p:spPr>
          <a:xfrm>
            <a:off x="1014984" y="2514600"/>
            <a:ext cx="2935224" cy="1828800"/>
          </a:xfrm>
          <a:prstGeom prst="rect">
            <a:avLst/>
          </a:prstGeom>
          <a:noFill/>
        </p:spPr>
        <p:txBody>
          <a:bodyPr wrap="square" anchor="t" lIns="0" rIns="0" tIns="0" bIns="0">
            <a:spAutoFit/>
          </a:bodyPr>
          <a:lstStyle/>
          <a:p>
            <a:pPr algn="l"/>
            <a:r>
              <a:rPr sz="1500" b="0" i="0">
                <a:solidFill>
                  <a:srgbClr val="D9DEE6"/>
                </a:solidFill>
                <a:latin typeface="IBM Plex Sans"/>
              </a:rPr>
              <a:t>NIST taxonomy: availability, integrity, privacy. Evasion, poisoning, privacy attacks, generative AI. Real incidents from MITRE ATLAS. Mitigations and their limits. Demos 3 and 4.</a:t>
            </a:r>
          </a:p>
        </p:txBody>
      </p:sp>
      <p:sp>
        <p:nvSpPr>
          <p:cNvPr id="7" name="Rounded Rectangle 6"/>
          <p:cNvSpPr/>
          <p:nvPr/>
        </p:nvSpPr>
        <p:spPr>
          <a:xfrm>
            <a:off x="442569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2 · Frameworks</a:t>
            </a:r>
          </a:p>
        </p:txBody>
      </p:sp>
      <p:sp>
        <p:nvSpPr>
          <p:cNvPr id="9" name="TextBox 8"/>
          <p:cNvSpPr txBox="1"/>
          <p:nvPr/>
        </p:nvSpPr>
        <p:spPr>
          <a:xfrm>
            <a:off x="462686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Who describes, who prioritises, who requires: NIST, ATLAS, OWASP ML and LLM Top 10, EU AI Act Art. 15, UK Code of Practice and ETSI EN 304 223. One crosswalk.</a:t>
            </a:r>
          </a:p>
        </p:txBody>
      </p:sp>
      <p:sp>
        <p:nvSpPr>
          <p:cNvPr id="10" name="Rounded Rectangle 9"/>
          <p:cNvSpPr/>
          <p:nvPr/>
        </p:nvSpPr>
        <p:spPr>
          <a:xfrm>
            <a:off x="803757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3 · High-trust case</a:t>
            </a:r>
          </a:p>
        </p:txBody>
      </p:sp>
      <p:sp>
        <p:nvSpPr>
          <p:cNvPr id="12" name="TextBox 11"/>
          <p:cNvSpPr txBox="1"/>
          <p:nvPr/>
        </p:nvSpPr>
        <p:spPr>
          <a:xfrm>
            <a:off x="823874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GRAIMATTER: model disclosure and query controls for a trusted research environment. Demos 1 and 2. What carries over to other high-trust deployments.</a:t>
            </a:r>
          </a:p>
        </p:txBody>
      </p:sp>
      <p:sp>
        <p:nvSpPr>
          <p:cNvPr id="13" name="Rounded Rectangle 12"/>
          <p:cNvSpPr/>
          <p:nvPr/>
        </p:nvSpPr>
        <p:spPr>
          <a:xfrm>
            <a:off x="813816" y="4754880"/>
            <a:ext cx="10561320" cy="868680"/>
          </a:xfrm>
          <a:prstGeom prst="roundRect">
            <a:avLst>
              <a:gd name="adj" fmla="val 8000"/>
            </a:avLst>
          </a:prstGeom>
          <a:solidFill>
            <a:srgbClr val="FBE9DC"/>
          </a:solidFill>
          <a:ln>
            <a:noFill/>
          </a:ln>
          <a:effectLst/>
        </p:spPr>
        <p:txBody>
          <a:bodyPr rtlCol="0" anchor="ctr"/>
          <a:lstStyle/>
          <a:p>
            <a:pPr algn="ctr"/>
          </a:p>
        </p:txBody>
      </p:sp>
      <p:sp>
        <p:nvSpPr>
          <p:cNvPr id="14" name="TextBox 13"/>
          <p:cNvSpPr txBox="1"/>
          <p:nvPr/>
        </p:nvSpPr>
        <p:spPr>
          <a:xfrm>
            <a:off x="1042416" y="475488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 4 tampers with a supplied model and its files; demos 1 and 2 show membership and attribute inference and the GRAIMATTER controls. All four use the same synthetic cohort.</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In demo/: run_aml_demo.py (3), run_supply_chain_demo.py (4), run_demo.py (1), run_sacroml_demo.py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The CIA triad in NIST's words: privacy = confidentiality (§2.1.2). NIST AI 100-2e2025,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 3 covers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Supply chain: four tampered files pass the usual check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SUPPLY CHAIN · NISTAML.051 · DEMO 4</a:t>
            </a:r>
          </a:p>
        </p:txBody>
      </p:sp>
      <p:graphicFrame>
        <p:nvGraphicFramePr>
          <p:cNvPr id="4" name="Table 3"/>
          <p:cNvGraphicFramePr>
            <a:graphicFrameLocks noGrp="1"/>
          </p:cNvGraphicFramePr>
          <p:nvPr/>
        </p:nvGraphicFramePr>
        <p:xfrm>
          <a:off x="813816" y="1965960"/>
          <a:ext cx="6675120" cy="2560320"/>
        </p:xfrm>
        <a:graphic>
          <a:graphicData uri="http://schemas.openxmlformats.org/drawingml/2006/table">
            <a:tbl>
              <a:tblPr firstRow="1" bandRow="1">
                <a:tableStyleId>{5C22544A-7EE6-4342-B048-85BDC9FD1C3A}</a:tableStyleId>
              </a:tblPr>
              <a:tblGrid>
                <a:gridCol w="2514600"/>
                <a:gridCol w="2240280"/>
                <a:gridCol w="822960"/>
                <a:gridCol w="1097280"/>
              </a:tblGrid>
              <a:tr h="512064">
                <a:tc>
                  <a:txBody>
                    <a:bodyPr wrap="square"/>
                    <a:lstStyle/>
                    <a:p>
                      <a:r>
                        <a:rPr sz="1200" b="1">
                          <a:solidFill>
                            <a:srgbClr val="F6F5F0"/>
                          </a:solidFill>
                          <a:latin typeface="IBM Plex Sans"/>
                        </a:rPr>
                        <a:t>Tampered on the mirror</a:t>
                      </a:r>
                    </a:p>
                  </a:txBody>
                  <a:tcPr marL="91440" marR="91440" marT="36576" marB="36576" anchor="ctr">
                    <a:solidFill>
                      <a:srgbClr val="0F1B2D"/>
                    </a:solidFill>
                  </a:tcPr>
                </a:tc>
                <a:tc>
                  <a:txBody>
                    <a:bodyPr wrap="square"/>
                    <a:lstStyle/>
                    <a:p>
                      <a:r>
                        <a:rPr sz="1200" b="1">
                          <a:solidFill>
                            <a:srgbClr val="F6F5F0"/>
                          </a:solidFill>
                          <a:latin typeface="IBM Plex Sans"/>
                        </a:rPr>
                        <a:t>Usual check</a:t>
                      </a:r>
                    </a:p>
                  </a:txBody>
                  <a:tcPr marL="91440" marR="91440" marT="36576" marB="36576" anchor="ctr">
                    <a:solidFill>
                      <a:srgbClr val="0F1B2D"/>
                    </a:solidFill>
                  </a:tcPr>
                </a:tc>
                <a:tc>
                  <a:txBody>
                    <a:bodyPr wrap="square"/>
                    <a:lstStyle/>
                    <a:p>
                      <a:r>
                        <a:rPr sz="1200" b="1">
                          <a:solidFill>
                            <a:srgbClr val="F6F5F0"/>
                          </a:solidFill>
                          <a:latin typeface="IBM Plex Sans"/>
                        </a:rPr>
                        <a:t>Pin</a:t>
                      </a:r>
                    </a:p>
                  </a:txBody>
                  <a:tcPr marL="91440" marR="91440" marT="36576" marB="36576" anchor="ctr">
                    <a:solidFill>
                      <a:srgbClr val="0F1B2D"/>
                    </a:solidFill>
                  </a:tcPr>
                </a:tc>
                <a:tc>
                  <a:txBody>
                    <a:bodyPr wrap="square"/>
                    <a:lstStyle/>
                    <a:p>
                      <a:r>
                        <a:rPr sz="1200" b="1">
                          <a:solidFill>
                            <a:srgbClr val="F6F5F0"/>
                          </a:solidFill>
                          <a:latin typeface="IBM Plex Sans"/>
                        </a:rPr>
                        <a:t>Scan or floor</a:t>
                      </a:r>
                    </a:p>
                  </a:txBody>
                  <a:tcPr marL="91440" marR="91440" marT="36576" marB="36576" anchor="ctr">
                    <a:solidFill>
                      <a:srgbClr val="0F1B2D"/>
                    </a:solidFill>
                  </a:tcPr>
                </a:tc>
              </a:tr>
              <a:tr h="512064">
                <a:tc>
                  <a:txBody>
                    <a:bodyPr wrap="square"/>
                    <a:lstStyle/>
                    <a:p>
                      <a:r>
                        <a:rPr sz="1200" b="1">
                          <a:solidFill>
                            <a:srgbClr val="0F1B2D"/>
                          </a:solidFill>
                          <a:latin typeface="IBM Plex Sans"/>
                        </a:rPr>
                        <a:t>Swapped model, 2% backdoor poison</a:t>
                      </a:r>
                    </a:p>
                  </a:txBody>
                  <a:tcPr marL="91440" marR="91440" marT="36576" marB="36576" anchor="ctr">
                    <a:solidFill>
                      <a:srgbClr val="FDFCF9"/>
                    </a:solidFill>
                  </a:tcPr>
                </a:tc>
                <a:tc>
                  <a:txBody>
                    <a:bodyPr wrap="square"/>
                    <a:lstStyle/>
                    <a:p>
                      <a:r>
                        <a:rPr sz="1200" b="0">
                          <a:solidFill>
                            <a:srgbClr val="3A4556"/>
                          </a:solidFill>
                          <a:latin typeface="IBM Plex Sans"/>
                        </a:rPr>
                        <a:t>accuracy 0.627 vs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passes</a:t>
                      </a:r>
                    </a:p>
                  </a:txBody>
                  <a:tcPr marL="91440" marR="91440" marT="36576" marB="36576" anchor="ctr">
                    <a:solidFill>
                      <a:srgbClr val="FBE9DC"/>
                    </a:solidFill>
                  </a:tcPr>
                </a:tc>
              </a:tr>
              <a:tr h="512064">
                <a:tc>
                  <a:txBody>
                    <a:bodyPr wrap="square"/>
                    <a:lstStyle/>
                    <a:p>
                      <a:r>
                        <a:rPr sz="1200" b="1">
                          <a:solidFill>
                            <a:srgbClr val="0F1B2D"/>
                          </a:solidFill>
                          <a:latin typeface="IBM Plex Sans"/>
                        </a:rPr>
                        <a:t>Code hidden in the pickle</a:t>
                      </a:r>
                    </a:p>
                  </a:txBody>
                  <a:tcPr marL="91440" marR="91440" marT="36576" marB="36576" anchor="ctr">
                    <a:solidFill>
                      <a:srgbClr val="F1EFE8"/>
                    </a:solidFill>
                  </a:tcPr>
                </a:tc>
                <a:tc>
                  <a:txBody>
                    <a:bodyPr wrap="square"/>
                    <a:lstStyle/>
                    <a:p>
                      <a:r>
                        <a:rPr sz="1200" b="0">
                          <a:solidFill>
                            <a:srgbClr val="3A4556"/>
                          </a:solidFill>
                          <a:latin typeface="IBM Plex Sans"/>
                        </a:rPr>
                        <a:t>accuracy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r h="512064">
                <a:tc>
                  <a:txBody>
                    <a:bodyPr wrap="square"/>
                    <a:lstStyle/>
                    <a:p>
                      <a:r>
                        <a:rPr sz="1200" b="1">
                          <a:solidFill>
                            <a:srgbClr val="0F1B2D"/>
                          </a:solidFill>
                          <a:latin typeface="IBM Plex Sans"/>
                        </a:rPr>
                        <a:t>Key length 256 → 40 bits</a:t>
                      </a:r>
                    </a:p>
                  </a:txBody>
                  <a:tcPr marL="91440" marR="91440" marT="36576" marB="36576" anchor="ctr">
                    <a:solidFill>
                      <a:srgbClr val="FDFCF9"/>
                    </a:solidFill>
                  </a:tcPr>
                </a:tc>
                <a:tc>
                  <a:txBody>
                    <a:bodyPr wrap="square"/>
                    <a:lstStyle/>
                    <a:p>
                      <a:r>
                        <a:rPr sz="1200" b="0">
                          <a:solidFill>
                            <a:srgbClr val="3A4556"/>
                          </a:solidFill>
                          <a:latin typeface="IBM Plex Sans"/>
                        </a:rPr>
                        <a:t>still encrypts: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r>
              <a:tr h="512064">
                <a:tc>
                  <a:txBody>
                    <a:bodyPr wrap="square"/>
                    <a:lstStyle/>
                    <a:p>
                      <a:r>
                        <a:rPr sz="1200" b="1">
                          <a:solidFill>
                            <a:srgbClr val="0F1B2D"/>
                          </a:solidFill>
                          <a:latin typeface="IBM Plex Sans"/>
                        </a:rPr>
                        <a:t>Safe-wrapper floor 20 → 1 row</a:t>
                      </a:r>
                    </a:p>
                  </a:txBody>
                  <a:tcPr marL="91440" marR="91440" marT="36576" marB="36576" anchor="ctr">
                    <a:solidFill>
                      <a:srgbClr val="F1EFE8"/>
                    </a:solidFill>
                  </a:tcPr>
                </a:tc>
                <a:tc>
                  <a:txBody>
                    <a:bodyPr wrap="square"/>
                    <a:lstStyle/>
                    <a:p>
                      <a:r>
                        <a:rPr sz="1200" b="0">
                          <a:solidFill>
                            <a:srgbClr val="3A4556"/>
                          </a:solidFill>
                          <a:latin typeface="IBM Plex Sans"/>
                        </a:rPr>
                        <a:t>request_release():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bl>
          </a:graphicData>
        </a:graphic>
      </p:graphicFrame>
      <p:sp>
        <p:nvSpPr>
          <p:cNvPr id="5" name="TextBox 4"/>
          <p:cNvSpPr txBox="1"/>
          <p:nvPr/>
        </p:nvSpPr>
        <p:spPr>
          <a:xfrm>
            <a:off x="813816" y="4709160"/>
            <a:ext cx="6675120" cy="1188720"/>
          </a:xfrm>
          <a:prstGeom prst="rect">
            <a:avLst/>
          </a:prstGeom>
          <a:noFill/>
        </p:spPr>
        <p:txBody>
          <a:bodyPr wrap="square" anchor="t" lIns="0" rIns="0" tIns="0" bIns="0">
            <a:spAutoFit/>
          </a:bodyPr>
          <a:lstStyle/>
          <a:p>
            <a:pPr algn="l"/>
            <a:r>
              <a:rPr sz="1250" b="1" i="0">
                <a:solidFill>
                  <a:srgbClr val="3A4556"/>
                </a:solidFill>
                <a:latin typeface="IBM Plex Sans"/>
              </a:rPr>
              <a:t>Pin: </a:t>
            </a:r>
            <a:r>
              <a:rPr sz="1250" b="0" i="0">
                <a:solidFill>
                  <a:srgbClr val="3A4556"/>
                </a:solidFill>
                <a:latin typeface="IBM Plex Sans"/>
              </a:rPr>
              <a:t>SHA-256 of each file, recorded from the supplier's release notes at approval. </a:t>
            </a:r>
            <a:r>
              <a:rPr sz="1250" b="1" i="0">
                <a:solidFill>
                  <a:srgbClr val="3A4556"/>
                </a:solidFill>
                <a:latin typeface="IBM Plex Sans"/>
              </a:rPr>
              <a:t>Scan: </a:t>
            </a:r>
            <a:r>
              <a:rPr sz="1250" b="0" i="0">
                <a:solidFill>
                  <a:srgbClr val="3A4556"/>
                </a:solidFill>
                <a:latin typeface="IBM Plex Sans"/>
              </a:rPr>
              <a:t>the imports a pickle would make, read without loading it. </a:t>
            </a:r>
            <a:r>
              <a:rPr sz="1250" b="1" i="0">
                <a:solidFill>
                  <a:srgbClr val="3A4556"/>
                </a:solidFill>
                <a:latin typeface="IBM Plex Sans"/>
              </a:rPr>
              <a:t>Floor: </a:t>
            </a:r>
            <a:r>
              <a:rPr sz="1250" b="0" i="0">
                <a:solidFill>
                  <a:srgbClr val="3A4556"/>
                </a:solidFill>
                <a:latin typeface="IBM Plex Sans"/>
              </a:rPr>
              <a:t>minimum key length and leaf size kept in code, not in the downloaded file.</a:t>
            </a:r>
          </a:p>
        </p:txBody>
      </p:sp>
      <p:sp>
        <p:nvSpPr>
          <p:cNvPr id="6" name="Rounded Rectangle 5"/>
          <p:cNvSpPr/>
          <p:nvPr/>
        </p:nvSpPr>
        <p:spPr>
          <a:xfrm>
            <a:off x="7763256" y="1965960"/>
            <a:ext cx="361188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964424" y="2148840"/>
            <a:ext cx="3209544" cy="365760"/>
          </a:xfrm>
          <a:prstGeom prst="rect">
            <a:avLst/>
          </a:prstGeom>
          <a:noFill/>
        </p:spPr>
        <p:txBody>
          <a:bodyPr wrap="square" anchor="t" lIns="0" rIns="0" tIns="0" bIns="0">
            <a:spAutoFit/>
          </a:bodyPr>
          <a:lstStyle/>
          <a:p>
            <a:pPr algn="l"/>
            <a:r>
              <a:rPr sz="1600" b="1" i="0">
                <a:solidFill>
                  <a:srgbClr val="0F1B2D"/>
                </a:solidFill>
                <a:latin typeface="IBM Plex Sans"/>
              </a:rPr>
              <a:t>One number, the whole system</a:t>
            </a:r>
          </a:p>
        </p:txBody>
      </p:sp>
      <p:sp>
        <p:nvSpPr>
          <p:cNvPr id="8" name="TextBox 7"/>
          <p:cNvSpPr txBox="1"/>
          <p:nvPr/>
        </p:nvSpPr>
        <p:spPr>
          <a:xfrm>
            <a:off x="7964424" y="2423160"/>
            <a:ext cx="3209544" cy="1280160"/>
          </a:xfrm>
          <a:prstGeom prst="rect">
            <a:avLst/>
          </a:prstGeom>
          <a:noFill/>
        </p:spPr>
        <p:txBody>
          <a:bodyPr wrap="square" anchor="t" lIns="0" rIns="0" tIns="0" bIns="0">
            <a:spAutoFit/>
          </a:bodyPr>
          <a:lstStyle/>
          <a:p>
            <a:pPr algn="l"/>
            <a:r>
              <a:rPr sz="1250" b="0" i="0">
                <a:solidFill>
                  <a:srgbClr val="3A4556"/>
                </a:solidFill>
                <a:latin typeface="IBM Plex Sans"/>
              </a:rPr>
              <a:t>A key search at a billion keys a second: 40 bits, 18 minutes; 128 bits, 1.1e22 years. Everything still works, so no functional test notices.</a:t>
            </a:r>
          </a:p>
        </p:txBody>
      </p:sp>
      <p:sp>
        <p:nvSpPr>
          <p:cNvPr id="9" name="Rounded Rectangle 8"/>
          <p:cNvSpPr/>
          <p:nvPr/>
        </p:nvSpPr>
        <p:spPr>
          <a:xfrm>
            <a:off x="7763256" y="3931920"/>
            <a:ext cx="3611880" cy="1965960"/>
          </a:xfrm>
          <a:prstGeom prst="roundRect">
            <a:avLst>
              <a:gd name="adj" fmla="val 5581"/>
            </a:avLst>
          </a:prstGeom>
          <a:solidFill>
            <a:srgbClr val="0F1B2D"/>
          </a:solidFill>
          <a:ln>
            <a:noFill/>
          </a:ln>
          <a:effectLst/>
        </p:spPr>
        <p:txBody>
          <a:bodyPr rtlCol="0" anchor="ctr"/>
          <a:lstStyle/>
          <a:p>
            <a:pPr algn="ctr"/>
          </a:p>
        </p:txBody>
      </p:sp>
      <p:sp>
        <p:nvSpPr>
          <p:cNvPr id="10" name="TextBox 9"/>
          <p:cNvSpPr txBox="1"/>
          <p:nvPr/>
        </p:nvSpPr>
        <p:spPr>
          <a:xfrm>
            <a:off x="7964424" y="4114800"/>
            <a:ext cx="3209544" cy="365760"/>
          </a:xfrm>
          <a:prstGeom prst="rect">
            <a:avLst/>
          </a:prstGeom>
          <a:noFill/>
        </p:spPr>
        <p:txBody>
          <a:bodyPr wrap="square" anchor="t" lIns="0" rIns="0" tIns="0" bIns="0">
            <a:spAutoFit/>
          </a:bodyPr>
          <a:lstStyle/>
          <a:p>
            <a:pPr algn="l"/>
            <a:r>
              <a:rPr sz="1600" b="1" i="0">
                <a:solidFill>
                  <a:srgbClr val="F2A35E"/>
                </a:solidFill>
                <a:latin typeface="IBM Plex Sans"/>
              </a:rPr>
              <a:t>What the pin does not catch</a:t>
            </a:r>
          </a:p>
        </p:txBody>
      </p:sp>
      <p:sp>
        <p:nvSpPr>
          <p:cNvPr id="11" name="TextBox 10"/>
          <p:cNvSpPr txBox="1"/>
          <p:nvPr/>
        </p:nvSpPr>
        <p:spPr>
          <a:xfrm>
            <a:off x="7964424" y="4389120"/>
            <a:ext cx="3209544" cy="1417319"/>
          </a:xfrm>
          <a:prstGeom prst="rect">
            <a:avLst/>
          </a:prstGeom>
          <a:noFill/>
        </p:spPr>
        <p:txBody>
          <a:bodyPr wrap="square" anchor="t" lIns="0" rIns="0" tIns="0" bIns="0">
            <a:spAutoFit/>
          </a:bodyPr>
          <a:lstStyle/>
          <a:p>
            <a:pPr algn="l"/>
            <a:r>
              <a:rPr sz="1250" b="0" i="0">
                <a:solidFill>
                  <a:srgbClr val="D9DEE6"/>
                </a:solidFill>
                <a:latin typeface="IBM Plex Sans"/>
              </a:rPr>
              <a:t>A pin taken from the download verifies the backdoor. A digest proves the file is the approved one, not that the approved one is good: add signatures, provenance (SLSA), safetensors, an AI-BOM.</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demo/output/supply_chain_report.txt. NIST AI 100-2e2025 §3.2.2, §4.2.2. UK Code 7 and 8.1.2. OWASP ML06. ATLAS AML.T0010.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4</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0.280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One gate, four lenses: GRAIMATTER passes, Article 15(5) fails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RELEASE GATE · DEMO/RUN_GATE.PY · CI</a:t>
            </a:r>
          </a:p>
        </p:txBody>
      </p:sp>
      <p:graphicFrame>
        <p:nvGraphicFramePr>
          <p:cNvPr id="4" name="Table 3"/>
          <p:cNvGraphicFramePr>
            <a:graphicFrameLocks noGrp="1"/>
          </p:cNvGraphicFramePr>
          <p:nvPr/>
        </p:nvGraphicFramePr>
        <p:xfrm>
          <a:off x="813816" y="1920240"/>
          <a:ext cx="6400800" cy="2103120"/>
        </p:xfrm>
        <a:graphic>
          <a:graphicData uri="http://schemas.openxmlformats.org/drawingml/2006/table">
            <a:tbl>
              <a:tblPr firstRow="1" bandRow="1">
                <a:tableStyleId>{5C22544A-7EE6-4342-B048-85BDC9FD1C3A}</a:tableStyleId>
              </a:tblPr>
              <a:tblGrid>
                <a:gridCol w="2377440"/>
                <a:gridCol w="960120"/>
                <a:gridCol w="822960"/>
                <a:gridCol w="822960"/>
                <a:gridCol w="1417320"/>
              </a:tblGrid>
              <a:tr h="420624">
                <a:tc>
                  <a:txBody>
                    <a:bodyPr wrap="square"/>
                    <a:lstStyle/>
                    <a:p>
                      <a:r>
                        <a:rPr sz="1300" b="1">
                          <a:solidFill>
                            <a:srgbClr val="F6F5F0"/>
                          </a:solidFill>
                          <a:latin typeface="IBM Plex Sans"/>
                        </a:rPr>
                        <a:t>Pack</a:t>
                      </a:r>
                    </a:p>
                  </a:txBody>
                  <a:tcPr marL="91440" marR="91440" marT="36576" marB="36576" anchor="ctr">
                    <a:solidFill>
                      <a:srgbClr val="0F1B2D"/>
                    </a:solidFill>
                  </a:tcPr>
                </a:tc>
                <a:tc>
                  <a:txBody>
                    <a:bodyPr wrap="square"/>
                    <a:lstStyle/>
                    <a:p>
                      <a:r>
                        <a:rPr sz="1300" b="1">
                          <a:solidFill>
                            <a:srgbClr val="F6F5F0"/>
                          </a:solidFill>
                          <a:latin typeface="IBM Plex Sans"/>
                        </a:rPr>
                        <a:t>Controls</a:t>
                      </a:r>
                    </a:p>
                  </a:txBody>
                  <a:tcPr marL="91440" marR="91440" marT="36576" marB="36576" anchor="ctr">
                    <a:solidFill>
                      <a:srgbClr val="0F1B2D"/>
                    </a:solidFill>
                  </a:tcPr>
                </a:tc>
                <a:tc>
                  <a:txBody>
                    <a:bodyPr wrap="square"/>
                    <a:lstStyle/>
                    <a:p>
                      <a:r>
                        <a:rPr sz="1300" b="1">
                          <a:solidFill>
                            <a:srgbClr val="F6F5F0"/>
                          </a:solidFill>
                          <a:latin typeface="IBM Plex Sans"/>
                        </a:rPr>
                        <a:t>Pass</a:t>
                      </a:r>
                    </a:p>
                  </a:txBody>
                  <a:tcPr marL="91440" marR="91440" marT="36576" marB="36576" anchor="ctr">
                    <a:solidFill>
                      <a:srgbClr val="0F1B2D"/>
                    </a:solidFill>
                  </a:tcPr>
                </a:tc>
                <a:tc>
                  <a:txBody>
                    <a:bodyPr wrap="square"/>
                    <a:lstStyle/>
                    <a:p>
                      <a:r>
                        <a:rPr sz="1300" b="1">
                          <a:solidFill>
                            <a:srgbClr val="F6F5F0"/>
                          </a:solidFill>
                          <a:latin typeface="IBM Plex Sans"/>
                        </a:rPr>
                        <a:t>Fail</a:t>
                      </a:r>
                    </a:p>
                  </a:txBody>
                  <a:tcPr marL="91440" marR="91440" marT="36576" marB="36576" anchor="ctr">
                    <a:solidFill>
                      <a:srgbClr val="0F1B2D"/>
                    </a:solidFill>
                  </a:tcPr>
                </a:tc>
                <a:tc>
                  <a:txBody>
                    <a:bodyPr wrap="square"/>
                    <a:lstStyle/>
                    <a:p>
                      <a:r>
                        <a:rPr sz="1300" b="1">
                          <a:solidFill>
                            <a:srgbClr val="F6F5F0"/>
                          </a:solidFill>
                          <a:latin typeface="IBM Plex Sans"/>
                        </a:rPr>
                        <a:t>Not evidenced</a:t>
                      </a:r>
                    </a:p>
                  </a:txBody>
                  <a:tcPr marL="91440" marR="91440" marT="36576" marB="36576" anchor="ctr">
                    <a:solidFill>
                      <a:srgbClr val="0F1B2D"/>
                    </a:solidFill>
                  </a:tcPr>
                </a:tc>
              </a:tr>
              <a:tr h="420624">
                <a:tc>
                  <a:txBody>
                    <a:bodyPr wrap="square"/>
                    <a:lstStyle/>
                    <a:p>
                      <a:r>
                        <a:rPr sz="1300" b="1">
                          <a:solidFill>
                            <a:srgbClr val="0F1B2D"/>
                          </a:solidFill>
                          <a:latin typeface="IBM Plex Sans"/>
                        </a:rPr>
                        <a:t>EU AI Act 15(5), UK Code</a:t>
                      </a:r>
                    </a:p>
                  </a:txBody>
                  <a:tcPr marL="91440" marR="91440" marT="36576" marB="36576" anchor="ctr">
                    <a:solidFill>
                      <a:srgbClr val="FDFCF9"/>
                    </a:solidFill>
                  </a:tcPr>
                </a:tc>
                <a:tc>
                  <a:txBody>
                    <a:bodyPr wrap="square"/>
                    <a:lstStyle/>
                    <a:p>
                      <a:r>
                        <a:rPr sz="1300" b="0">
                          <a:solidFill>
                            <a:srgbClr val="3A4556"/>
                          </a:solidFill>
                          <a:latin typeface="IBM Plex Sans"/>
                        </a:rPr>
                        <a:t>8</a:t>
                      </a:r>
                    </a:p>
                  </a:txBody>
                  <a:tcPr marL="91440" marR="91440" marT="36576" marB="36576" anchor="ctr">
                    <a:solidFill>
                      <a:srgbClr val="FDFCF9"/>
                    </a:solidFill>
                  </a:tcPr>
                </a:tc>
                <a:tc>
                  <a:txBody>
                    <a:bodyPr wrap="square"/>
                    <a:lstStyle/>
                    <a:p>
                      <a:r>
                        <a:rPr sz="1300" b="0">
                          <a:solidFill>
                            <a:srgbClr val="3A4556"/>
                          </a:solidFill>
                          <a:latin typeface="IBM Plex Sans"/>
                        </a:rPr>
                        <a:t>2</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100-2</a:t>
                      </a:r>
                    </a:p>
                  </a:txBody>
                  <a:tcPr marL="91440" marR="91440" marT="36576" marB="36576" anchor="ctr">
                    <a:solidFill>
                      <a:srgbClr val="F1EFE8"/>
                    </a:solidFill>
                  </a:tcPr>
                </a:tc>
                <a:tc>
                  <a:txBody>
                    <a:bodyPr wrap="square"/>
                    <a:lstStyle/>
                    <a:p>
                      <a:r>
                        <a:rPr sz="1300" b="0">
                          <a:solidFill>
                            <a:srgbClr val="3A4556"/>
                          </a:solidFill>
                          <a:latin typeface="IBM Plex Sans"/>
                        </a:rPr>
                        <a:t>6</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r h="420624">
                <a:tc>
                  <a:txBody>
                    <a:bodyPr wrap="square"/>
                    <a:lstStyle/>
                    <a:p>
                      <a:r>
                        <a:rPr sz="1300" b="1">
                          <a:solidFill>
                            <a:srgbClr val="0F1B2D"/>
                          </a:solidFill>
                          <a:latin typeface="IBM Plex Sans"/>
                        </a:rPr>
                        <a:t>GRAIMATTER TECH</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5</a:t>
                      </a:r>
                    </a:p>
                  </a:txBody>
                  <a:tcPr marL="91440" marR="91440" marT="36576" marB="36576" anchor="ctr">
                    <a:solidFill>
                      <a:srgbClr val="DCEBDD"/>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1 (demo 2)</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RMF, SR 26-02</a:t>
                      </a:r>
                    </a:p>
                  </a:txBody>
                  <a:tcPr marL="91440" marR="91440" marT="36576" marB="36576" anchor="ctr">
                    <a:solidFill>
                      <a:srgbClr val="F1EFE8"/>
                    </a:solidFill>
                  </a:tcPr>
                </a:tc>
                <a:tc>
                  <a:txBody>
                    <a:bodyPr wrap="square"/>
                    <a:lstStyle/>
                    <a:p>
                      <a:r>
                        <a:rPr sz="1300" b="0">
                          <a:solidFill>
                            <a:srgbClr val="3A4556"/>
                          </a:solidFill>
                          <a:latin typeface="IBM Plex Sans"/>
                        </a:rPr>
                        <a:t>8</a:t>
                      </a:r>
                    </a:p>
                  </a:txBody>
                  <a:tcPr marL="91440" marR="91440" marT="36576" marB="36576" anchor="ctr">
                    <a:solidFill>
                      <a:srgbClr val="F1EFE8"/>
                    </a:solidFill>
                  </a:tcPr>
                </a:tc>
                <a:tc>
                  <a:txBody>
                    <a:bodyPr wrap="square"/>
                    <a:lstStyle/>
                    <a:p>
                      <a:r>
                        <a:rPr sz="1300" b="0">
                          <a:solidFill>
                            <a:srgbClr val="3A4556"/>
                          </a:solidFill>
                          <a:latin typeface="IBM Plex Sans"/>
                        </a:rPr>
                        <a:t>5</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bl>
          </a:graphicData>
        </a:graphic>
      </p:graphicFrame>
      <p:sp>
        <p:nvSpPr>
          <p:cNvPr id="5" name="TextBox 4"/>
          <p:cNvSpPr txBox="1"/>
          <p:nvPr/>
        </p:nvSpPr>
        <p:spPr>
          <a:xfrm>
            <a:off x="813816" y="4114800"/>
            <a:ext cx="6400800" cy="1188720"/>
          </a:xfrm>
          <a:prstGeom prst="rect">
            <a:avLst/>
          </a:prstGeom>
          <a:noFill/>
        </p:spPr>
        <p:txBody>
          <a:bodyPr wrap="square" anchor="t" lIns="0" rIns="0" tIns="0" bIns="0">
            <a:spAutoFit/>
          </a:bodyPr>
          <a:lstStyle/>
          <a:p>
            <a:pPr algn="l"/>
            <a:r>
              <a:rPr sz="1300" b="1" i="0">
                <a:solidFill>
                  <a:srgbClr val="3A4556"/>
                </a:solidFill>
                <a:latin typeface="IBM Plex Sans"/>
              </a:rPr>
              <a:t>Breached: </a:t>
            </a:r>
            <a:r>
              <a:rPr sz="1300" b="0" i="0">
                <a:solidFill>
                  <a:srgbClr val="3A4556"/>
                </a:solidFill>
                <a:latin typeface="IBM Plex Sans"/>
              </a:rPr>
              <a:t>evasion 78.7% (tolerance 10%), a copy agreeing 86.9% after one 200-row budget (80%), a backdoor lifting trigger success by 71.7 points (tolerance 10).</a:t>
            </a:r>
          </a:p>
          <a:p>
            <a:pPr algn="l">
              <a:spcBef>
                <a:spcPts val="600"/>
              </a:spcBef>
            </a:pPr>
            <a:r>
              <a:rPr sz="1300" b="1" i="0">
                <a:solidFill>
                  <a:srgbClr val="3A4556"/>
                </a:solidFill>
                <a:latin typeface="IBM Plex Sans"/>
              </a:rPr>
              <a:t>Within: </a:t>
            </a:r>
            <a:r>
              <a:rPr sz="1300" b="0" i="0">
                <a:solidFill>
                  <a:srgbClr val="3A4556"/>
                </a:solidFill>
                <a:latin typeface="IBM Plex Sans"/>
              </a:rPr>
              <a:t>membership, attribute, holdout gap, stored rows, release checks, query budget, and the supply chain: no tampered file of demo 4 gets past the pin and the scan or floor.</a:t>
            </a:r>
          </a:p>
        </p:txBody>
      </p:sp>
      <p:sp>
        <p:nvSpPr>
          <p:cNvPr id="6" name="Rounded Rectangle 5"/>
          <p:cNvSpPr/>
          <p:nvPr/>
        </p:nvSpPr>
        <p:spPr>
          <a:xfrm>
            <a:off x="7534656" y="1920240"/>
            <a:ext cx="3840480" cy="1874519"/>
          </a:xfrm>
          <a:prstGeom prst="roundRect">
            <a:avLst>
              <a:gd name="adj" fmla="val 5853"/>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735824" y="2103120"/>
            <a:ext cx="3438144" cy="365760"/>
          </a:xfrm>
          <a:prstGeom prst="rect">
            <a:avLst/>
          </a:prstGeom>
          <a:noFill/>
        </p:spPr>
        <p:txBody>
          <a:bodyPr wrap="square" anchor="t" lIns="0" rIns="0" tIns="0" bIns="0">
            <a:spAutoFit/>
          </a:bodyPr>
          <a:lstStyle/>
          <a:p>
            <a:pPr algn="l"/>
            <a:r>
              <a:rPr sz="1600" b="1" i="0">
                <a:solidFill>
                  <a:srgbClr val="0F1B2D"/>
                </a:solidFill>
                <a:latin typeface="IBM Plex Sans"/>
              </a:rPr>
              <a:t>Never a silent green</a:t>
            </a:r>
          </a:p>
        </p:txBody>
      </p:sp>
      <p:sp>
        <p:nvSpPr>
          <p:cNvPr id="8" name="TextBox 7"/>
          <p:cNvSpPr txBox="1"/>
          <p:nvPr/>
        </p:nvSpPr>
        <p:spPr>
          <a:xfrm>
            <a:off x="7735824" y="2377440"/>
            <a:ext cx="3438144" cy="1325879"/>
          </a:xfrm>
          <a:prstGeom prst="rect">
            <a:avLst/>
          </a:prstGeom>
          <a:noFill/>
        </p:spPr>
        <p:txBody>
          <a:bodyPr wrap="square" anchor="t" lIns="0" rIns="0" tIns="0" bIns="0">
            <a:spAutoFit/>
          </a:bodyPr>
          <a:lstStyle/>
          <a:p>
            <a:pPr algn="l"/>
            <a:r>
              <a:rPr sz="1250" b="0" i="0">
                <a:solidFill>
                  <a:srgbClr val="3A4556"/>
                </a:solidFill>
                <a:latin typeface="IBM Plex Sans"/>
              </a:rPr>
              <a:t>A control whose demo did not run is not_evidenced, not pass. CI does not install sacroml, so it declares demo 2 out of scope with --accept-missing 2 and the report says so.</a:t>
            </a:r>
          </a:p>
        </p:txBody>
      </p:sp>
      <p:sp>
        <p:nvSpPr>
          <p:cNvPr id="9" name="Rounded Rectangle 8"/>
          <p:cNvSpPr/>
          <p:nvPr/>
        </p:nvSpPr>
        <p:spPr>
          <a:xfrm>
            <a:off x="7534656" y="3931920"/>
            <a:ext cx="3840480" cy="1874519"/>
          </a:xfrm>
          <a:prstGeom prst="roundRect">
            <a:avLst>
              <a:gd name="adj" fmla="val 5853"/>
            </a:avLst>
          </a:prstGeom>
          <a:solidFill>
            <a:srgbClr val="0F1B2D"/>
          </a:solidFill>
          <a:ln>
            <a:noFill/>
          </a:ln>
          <a:effectLst/>
        </p:spPr>
        <p:txBody>
          <a:bodyPr rtlCol="0" anchor="ctr"/>
          <a:lstStyle/>
          <a:p>
            <a:pPr algn="ctr"/>
          </a:p>
        </p:txBody>
      </p:sp>
      <p:sp>
        <p:nvSpPr>
          <p:cNvPr id="10" name="TextBox 9"/>
          <p:cNvSpPr txBox="1"/>
          <p:nvPr/>
        </p:nvSpPr>
        <p:spPr>
          <a:xfrm>
            <a:off x="7735824" y="4114800"/>
            <a:ext cx="3438144" cy="365760"/>
          </a:xfrm>
          <a:prstGeom prst="rect">
            <a:avLst/>
          </a:prstGeom>
          <a:noFill/>
        </p:spPr>
        <p:txBody>
          <a:bodyPr wrap="square" anchor="t" lIns="0" rIns="0" tIns="0" bIns="0">
            <a:spAutoFit/>
          </a:bodyPr>
          <a:lstStyle/>
          <a:p>
            <a:pPr algn="l"/>
            <a:r>
              <a:rPr sz="1600" b="1" i="0">
                <a:solidFill>
                  <a:srgbClr val="F2A35E"/>
                </a:solidFill>
                <a:latin typeface="IBM Plex Sans"/>
              </a:rPr>
              <a:t>Read with SR 26-02</a:t>
            </a:r>
          </a:p>
        </p:txBody>
      </p:sp>
      <p:sp>
        <p:nvSpPr>
          <p:cNvPr id="11" name="TextBox 10"/>
          <p:cNvSpPr txBox="1"/>
          <p:nvPr/>
        </p:nvSpPr>
        <p:spPr>
          <a:xfrm>
            <a:off x="7735824" y="4389120"/>
            <a:ext cx="3438144" cy="1325879"/>
          </a:xfrm>
          <a:prstGeom prst="rect">
            <a:avLst/>
          </a:prstGeom>
          <a:noFill/>
        </p:spPr>
        <p:txBody>
          <a:bodyPr wrap="square" anchor="t" lIns="0" rIns="0" tIns="0" bIns="0">
            <a:spAutoFit/>
          </a:bodyPr>
          <a:lstStyle/>
          <a:p>
            <a:pPr algn="l"/>
            <a:r>
              <a:rPr sz="1250" b="0" i="0">
                <a:solidFill>
                  <a:srgbClr val="D9DEE6"/>
                </a:solidFill>
                <a:latin typeface="IBM Plex Sans"/>
              </a:rPr>
              <a:t>A risk classifier is a model in the plain sense of model risk guidance. The TRE holdout (TECH 6) is the independent validation; the gate in CI is the ongoing monitoring.</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Tolerances are a demo risk appetite (ELA 8), not official cut-offs. Pattern from safety-trust-engine. demo/output/gate/.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Four demos and a gate,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250" b="0" i="0">
                <a:solidFill>
                  <a:srgbClr val="F6F5F0"/>
                </a:solidFill>
                <a:latin typeface="Consolas"/>
              </a:rPr>
              <a:t>uv venv --python 3.11</a:t>
            </a:r>
          </a:p>
          <a:p>
            <a:pPr algn="l">
              <a:spcBef>
                <a:spcPts val="600"/>
              </a:spcBef>
            </a:pPr>
            <a:r>
              <a:rPr sz="1250" b="0" i="0">
                <a:solidFill>
                  <a:srgbClr val="F6F5F0"/>
                </a:solidFill>
                <a:latin typeface="Consolas"/>
              </a:rPr>
              <a:t>uv pip install -r demo/requirements.txt</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uv run python demo/run_aml_demo.py</a:t>
            </a:r>
          </a:p>
          <a:p>
            <a:pPr algn="l">
              <a:spcBef>
                <a:spcPts val="600"/>
              </a:spcBef>
            </a:pPr>
            <a:r>
              <a:rPr sz="1250" b="0" i="0">
                <a:solidFill>
                  <a:srgbClr val="F6F5F0"/>
                </a:solidFill>
                <a:latin typeface="Consolas"/>
              </a:rPr>
              <a:t>uv run python demo/run_supply_chain_demo.py</a:t>
            </a:r>
          </a:p>
          <a:p>
            <a:pPr algn="l">
              <a:spcBef>
                <a:spcPts val="600"/>
              </a:spcBef>
            </a:pPr>
            <a:r>
              <a:rPr sz="1250" b="0" i="0">
                <a:solidFill>
                  <a:srgbClr val="F6F5F0"/>
                </a:solidFill>
                <a:latin typeface="Consolas"/>
              </a:rPr>
              <a:t>uv run python demo/run_demo.py</a:t>
            </a:r>
          </a:p>
          <a:p>
            <a:pPr algn="l">
              <a:spcBef>
                <a:spcPts val="600"/>
              </a:spcBef>
            </a:pPr>
            <a:r>
              <a:rPr sz="1250" b="0" i="0">
                <a:solidFill>
                  <a:srgbClr val="F6F5F0"/>
                </a:solidFill>
                <a:latin typeface="Consolas"/>
              </a:rPr>
              <a:t>uv run python demo/run_sacroml_demo.py</a:t>
            </a:r>
          </a:p>
          <a:p>
            <a:pPr algn="l">
              <a:spcBef>
                <a:spcPts val="600"/>
              </a:spcBef>
            </a:pPr>
            <a:r>
              <a:rPr sz="1250" b="0" i="0">
                <a:solidFill>
                  <a:srgbClr val="F6F5F0"/>
                </a:solidFill>
                <a:latin typeface="Consolas"/>
              </a:rPr>
              <a:t>uv run python demo/run_gate.py</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 figures and this deck</a:t>
            </a:r>
          </a:p>
          <a:p>
            <a:pPr algn="l">
              <a:spcBef>
                <a:spcPts val="600"/>
              </a:spcBef>
            </a:pPr>
            <a:r>
              <a:rPr sz="1250" b="0" i="0">
                <a:solidFill>
                  <a:srgbClr val="F6F5F0"/>
                </a:solidFill>
                <a:latin typeface="Consolas"/>
              </a:rPr>
              <a:t>python docs/guide/make_figures.py</a:t>
            </a:r>
          </a:p>
          <a:p>
            <a:pPr algn="l">
              <a:spcBef>
                <a:spcPts val="600"/>
              </a:spcBef>
            </a:pPr>
            <a:r>
              <a:rPr sz="1250" b="0" i="0">
                <a:solidFill>
                  <a:srgbClr val="F6F5F0"/>
                </a:solidFill>
                <a:latin typeface="Consolas"/>
              </a:rPr>
              <a:t>python docs/guide/make_aml_figures.py</a:t>
            </a:r>
          </a:p>
          <a:p>
            <a:pPr algn="l">
              <a:spcBef>
                <a:spcPts val="600"/>
              </a:spcBef>
            </a:pPr>
            <a:r>
              <a:rPr sz="12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Demos 3 and 4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 supply_chain_report.txt: four tampered files.</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